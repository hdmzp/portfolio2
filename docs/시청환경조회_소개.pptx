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시청환경 조회 사이트 소개 표지. 기획 배경과 화면별 기능을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배경: 산재된 시청환경 변수를 개별 확인하던 문제를, 한 화면 통합 조회와 매일 자동 갱신으로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 탭. 16개 채널 편성을 시간대별 그리드로 비교, 필터와 상세 정보 제공.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고정 PGM 요일 그리드와 셀럽 PGM 상품 이력 조회.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콘텐츠인 지상파·종편 편성과 드라마·예능 시청률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편성 밀도 히트맵과 건강 프로그램-홈쇼핑 편성 연계 분석.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주간 인기 상품 랭킹과 경쟁사 카드 할인 조건 조회.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날씨 달력과 동업계 방송 실적 추정 조회.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FA4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편성 실무를 위한 대시보드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828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시청환경 조회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16개 채널부터 지상파 · 종편 편성, 시청률, 날씨, 카드 할인까지 — 편성에 필요한 시청환경 정보를 한 화면에서 확인합니다.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화면별 기능 소개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234440"/>
            <a:ext cx="6949440" cy="4819004"/>
          </a:xfrm>
          <a:prstGeom prst="roundRect">
            <a:avLst>
              <a:gd name="adj" fmla="val 1328"/>
            </a:avLst>
          </a:prstGeom>
          <a:solidFill>
            <a:srgbClr val="FFFFFF"/>
          </a:solidFill>
          <a:ln w="12700">
            <a:solidFill>
              <a:srgbClr val="18294F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0" y="13487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638544" y="13487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7"/>
          <p:cNvSpPr/>
          <p:nvPr/>
        </p:nvSpPr>
        <p:spPr>
          <a:xfrm>
            <a:off x="6784848" y="13487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1545336"/>
            <a:ext cx="6949440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2" name="Image 0" descr="img/home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1615710"/>
            <a:ext cx="6784848" cy="4294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438912"/>
            <a:ext cx="818388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38912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흩어져 있던 시청환경 정보, 한 화면으로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여기저기 나눠 확인해야 했던 정보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1901952"/>
            <a:ext cx="4892040" cy="713232"/>
          </a:xfrm>
          <a:prstGeom prst="roundRect">
            <a:avLst>
              <a:gd name="adj" fmla="val 8974"/>
            </a:avLst>
          </a:prstGeom>
          <a:solidFill>
            <a:srgbClr val="F7F9FD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2066544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9" name="Image 0" descr="icons/tv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21442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1993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편성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98448" y="22677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16개 채널 — 확인 경로가 회사마다 제각각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2752344"/>
            <a:ext cx="4892040" cy="713232"/>
          </a:xfrm>
          <a:prstGeom prst="roundRect">
            <a:avLst>
              <a:gd name="adj" fmla="val 8974"/>
            </a:avLst>
          </a:prstGeom>
          <a:solidFill>
            <a:srgbClr val="F7F9FD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2916936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4" name="Image 1" descr="icons/radio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299466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2843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지상파 · 종편 프로그램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98448" y="31181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시간대 시청자를 나눠 갖는 경쟁 콘텐츠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" y="3602736"/>
            <a:ext cx="4892040" cy="713232"/>
          </a:xfrm>
          <a:prstGeom prst="roundRect">
            <a:avLst>
              <a:gd name="adj" fmla="val 8974"/>
            </a:avLst>
          </a:prstGeom>
          <a:solidFill>
            <a:srgbClr val="F7F9FD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49808" y="3767328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9" name="Image 2" descr="icons/chart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3845052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98448" y="3694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 · 예능 시청률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298448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 흐름을 좌우하는 핵심 지표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66928" y="4453128"/>
            <a:ext cx="4892040" cy="713232"/>
          </a:xfrm>
          <a:prstGeom prst="roundRect">
            <a:avLst>
              <a:gd name="adj" fmla="val 8974"/>
            </a:avLst>
          </a:prstGeom>
          <a:solidFill>
            <a:srgbClr val="F7F9FD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49808" y="4617720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4" name="Image 3" descr="icons/cloud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469544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98448" y="4544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298448" y="48188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· 날씨 민감 상품의 편성 변수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66928" y="5303520"/>
            <a:ext cx="4892040" cy="713232"/>
          </a:xfrm>
          <a:prstGeom prst="roundRect">
            <a:avLst>
              <a:gd name="adj" fmla="val 8974"/>
            </a:avLst>
          </a:prstGeom>
          <a:solidFill>
            <a:srgbClr val="F7F9FD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49808" y="5468112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9" name="Image 4" descr="icons/card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5545836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98448" y="5394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할인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1298448" y="56692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수시로 바뀌는 경쟁사 프로모션 조건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5687568" y="3675888"/>
            <a:ext cx="512064" cy="457200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33" name="Shape 25"/>
          <p:cNvSpPr/>
          <p:nvPr/>
        </p:nvSpPr>
        <p:spPr>
          <a:xfrm>
            <a:off x="6446520" y="1901952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0F1D3F"/>
          </a:solidFill>
          <a:ln/>
          <a:effectLst>
            <a:outerShdw sx="100000" sy="100000" kx="0" ky="0" algn="bl" rotWithShape="0" blurRad="152400" dist="50800" dir="5400000">
              <a:srgbClr val="1B2437">
                <a:alpha val="25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6446520" y="1536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화면으로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858000" y="2313432"/>
            <a:ext cx="566928" cy="566928"/>
          </a:xfrm>
          <a:prstGeom prst="ellipse">
            <a:avLst/>
          </a:prstGeom>
          <a:solidFill>
            <a:srgbClr val="18294F"/>
          </a:solidFill>
          <a:ln w="12700">
            <a:solidFill>
              <a:srgbClr val="2E4170"/>
            </a:solidFill>
            <a:prstDash val="solid"/>
          </a:ln>
        </p:spPr>
      </p:sp>
      <p:pic>
        <p:nvPicPr>
          <p:cNvPr id="36" name="Image 5" descr="icons/monitor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1444" y="2436876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635240" y="23134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시청환경 조회 대시보드</a:t>
            </a:r>
            <a:endParaRPr lang="en-US" sz="1900" dirty="0"/>
          </a:p>
        </p:txBody>
      </p:sp>
      <p:sp>
        <p:nvSpPr>
          <p:cNvPr id="38" name="Shape 29"/>
          <p:cNvSpPr/>
          <p:nvPr/>
        </p:nvSpPr>
        <p:spPr>
          <a:xfrm>
            <a:off x="6858000" y="3182112"/>
            <a:ext cx="4343400" cy="0"/>
          </a:xfrm>
          <a:prstGeom prst="line">
            <a:avLst/>
          </a:prstGeom>
          <a:noFill/>
          <a:ln w="12700">
            <a:solidFill>
              <a:srgbClr val="2E4170"/>
            </a:solidFill>
            <a:prstDash val="solid"/>
          </a:ln>
        </p:spPr>
      </p:sp>
      <p:pic>
        <p:nvPicPr>
          <p:cNvPr id="39" name="Image 6" descr="icons/layers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3520440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360920" y="34838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 통합 조회</a:t>
            </a:r>
            <a:endParaRPr lang="en-US" sz="1500" dirty="0"/>
          </a:p>
        </p:txBody>
      </p:sp>
      <p:sp>
        <p:nvSpPr>
          <p:cNvPr id="41" name="Text 31"/>
          <p:cNvSpPr/>
          <p:nvPr/>
        </p:nvSpPr>
        <p:spPr>
          <a:xfrm>
            <a:off x="7360920" y="383133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흩어져 있던 정보를 탭 전환만으로 확인</a:t>
            </a:r>
            <a:endParaRPr lang="en-US" sz="1200" dirty="0"/>
          </a:p>
        </p:txBody>
      </p:sp>
      <p:pic>
        <p:nvPicPr>
          <p:cNvPr id="42" name="Image 7" descr="icons/refresh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4754880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360920" y="4718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자동 갱신</a:t>
            </a:r>
            <a:endParaRPr lang="en-US" sz="1500" dirty="0"/>
          </a:p>
        </p:txBody>
      </p:sp>
      <p:sp>
        <p:nvSpPr>
          <p:cNvPr id="44" name="Text 33"/>
          <p:cNvSpPr/>
          <p:nvPr/>
        </p:nvSpPr>
        <p:spPr>
          <a:xfrm>
            <a:off x="7360920" y="506577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가공 → 반영 전 과정이 사람 손 없이 매일 자동으로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438912"/>
            <a:ext cx="608076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38912"/>
            <a:ext cx="608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편성 조회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536192"/>
            <a:ext cx="7223760" cy="48884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896112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847088"/>
            <a:ext cx="7223760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1" name="Image 0" descr="img/home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65376"/>
            <a:ext cx="7059168" cy="44678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2440" y="1719072"/>
            <a:ext cx="82296" cy="6583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9"/>
          <p:cNvSpPr/>
          <p:nvPr/>
        </p:nvSpPr>
        <p:spPr>
          <a:xfrm>
            <a:off x="8339328" y="1691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16개 채널을 한눈에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339328" y="20208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그리드에서 채널별 편성을 같은 시간축으로 비교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92440" y="2889504"/>
            <a:ext cx="82296" cy="6583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8339328" y="2862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· 데이터방송 전환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339328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 유형과 전체 · 정규 · 심야 구분을 골라 조회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92440" y="4059936"/>
            <a:ext cx="82296" cy="6583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39328" y="40325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필터 · 리스트뷰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8339328" y="4361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카테고리만 추려 보고, 목록 형태로도 전환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092440" y="5230368"/>
            <a:ext cx="82296" cy="6583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Text 18"/>
          <p:cNvSpPr/>
          <p:nvPr/>
        </p:nvSpPr>
        <p:spPr>
          <a:xfrm>
            <a:off x="8339328" y="52029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 상세 정보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8339328" y="55321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· 상품명 · 가격을 편성과 함께 표시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659636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1659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고정PGM · 셀럽PGM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편성과 셀럽 프로그램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0" name="Image 0" descr="img/fixedpg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865376"/>
            <a:ext cx="5056632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PGM 편성표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반복되는 채널별 고정 편성을 요일 그리드로 비교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고정 프로그램 현황을 한눈에 파악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08776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684264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Shape 14"/>
          <p:cNvSpPr/>
          <p:nvPr/>
        </p:nvSpPr>
        <p:spPr>
          <a:xfrm>
            <a:off x="6208776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8" name="Image 1" descr="img/celebrity_n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84" y="1865376"/>
            <a:ext cx="5056632" cy="3200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08776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PGM 조회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08776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프로그램별로 주차 단위 방송 상품과 가격 이력을 조회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이동과 프로그램 필터로 상품 구성 비교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1869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지상파·종편 · 드라마·예능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지상파 · 종편 편성과 시청률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0" name="Image 0" descr="img/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865376"/>
            <a:ext cx="5056632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지상파 · 종편 편성표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KBS · MBC · SBS · JTBC · MBN · TV조선 · 채널A 편성 조회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시청환경에 영향을 주는 경쟁 프로그램 확인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08776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684264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Shape 14"/>
          <p:cNvSpPr/>
          <p:nvPr/>
        </p:nvSpPr>
        <p:spPr>
          <a:xfrm>
            <a:off x="6208776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8" name="Image 1" descr="img/dramavarie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84" y="1865376"/>
            <a:ext cx="5056632" cy="3200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08776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 · 예능 편성 및 시청률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08776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단위 드라마 · 예능 편성과 시청률을 함께 조회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고시청률 프로그램 시간대를 편성 전략에 참고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08076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608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밀도와 건강 프로그램 추적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0" name="Image 0" descr="img/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865376"/>
            <a:ext cx="5056632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편성맵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× 시간대 히트맵으로 카테고리별 편성 밀도를 시각화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시간대에 주로 진행되는 방송을 요약 제공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08776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684264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Shape 14"/>
          <p:cNvSpPr/>
          <p:nvPr/>
        </p:nvSpPr>
        <p:spPr>
          <a:xfrm>
            <a:off x="6208776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8" name="Image 1" descr="img/health-trac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102" y="1865376"/>
            <a:ext cx="4768596" cy="3200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08776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프로그램 추적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08776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지상파 · 종편 건강 프로그램 방영 정보를 추적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편성과의 연계성을 자동 분석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9012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1239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· 카드할인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랭킹과 카드 할인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0" name="Image 0" descr="img/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865376"/>
            <a:ext cx="5056632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랭킹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주간 인기 상품 랭킹과 순위 변동 조회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· 브랜드 정보를 함께 제공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08776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684264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Shape 14"/>
          <p:cNvSpPr/>
          <p:nvPr/>
        </p:nvSpPr>
        <p:spPr>
          <a:xfrm>
            <a:off x="6208776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8" name="Image 1" descr="img/promo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294001"/>
            <a:ext cx="5248656" cy="23431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08776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할인 조회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08776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· 할인율을 즉시할인 / 청구할인 유형까지 구분해 표시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프로모션 파악과 조건 설계에 활용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· 방송 실적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달력과 방송 실적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0" name="Image 0" descr="img/w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023638"/>
            <a:ext cx="5248656" cy="288387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날씨 달력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· 월 단위로 기온과 날씨를 달력 형태로 조회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상품의 편성 시점 판단에 참고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08776" y="1536192"/>
            <a:ext cx="5413248" cy="362102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65049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165049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684264" y="165049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Shape 14"/>
          <p:cNvSpPr/>
          <p:nvPr/>
        </p:nvSpPr>
        <p:spPr>
          <a:xfrm>
            <a:off x="6208776" y="1847088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8" name="Image 1" descr="img/lavangba_n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84" y="1865376"/>
            <a:ext cx="5056632" cy="3200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08776" y="535838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방송 실적 (라방바)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08776" y="5660136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동업계 방송별 매출액을 수집해 예상 순주문과 함께 리스트업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· 카테고리 필터, 상품명 검색, 정규 / 심야 구분, CSV 다운로드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2026-08-10T14:26:31Z</dcterms:created>
  <dcterms:modified xsi:type="dcterms:W3CDTF">2026-08-10T14:26:31Z</dcterms:modified>
</cp:coreProperties>
</file>